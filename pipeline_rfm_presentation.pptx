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33" d="100"/>
          <a:sy n="133" d="100"/>
        </p:scale>
        <p:origin x="90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FAC03-26B5-4FB4-83AC-6286382D2BDD}" type="datetimeFigureOut">
              <a:rPr lang="fr-FR" smtClean="0"/>
              <a:t>09/04/2026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94BFDC-87E3-4436-9E6E-BA03342C115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94521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BFDC-87E3-4436-9E6E-BA03342C1156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29539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CBA3C-D158-0CE7-D76A-D933706ED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53034DE-CE64-0859-BFBB-EFA5614C29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D2940B3-5AF7-5B6B-2DFE-5CB7DB3931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2B4B4CE-D19B-1FF5-07EE-2A7A29AC02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94BFDC-87E3-4436-9E6E-BA03342C1156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26642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926C6-2973-4371-9D7A-C7C44942CE76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E0E27-FA6E-4EB1-9F73-FD9C74DF77AA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48384-A649-4B84-B59C-BE578BE2907D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AB016D-71A6-4093-9CC7-6A63A65A3F1B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8055C-E5A0-4D4D-888A-1C639640B12C}" type="datetime1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ADAAD-31A8-4838-BA68-7817C3F2A65F}" type="datetime1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76E14D-8F46-4225-9EB5-11C1AB09E8FB}" type="datetime1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3AA29-D6E2-4414-A7DA-126587147FC8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3476A-1046-4268-AD98-27BF3A837CC9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AD5CEF-8DE9-408D-9762-505E259BCC73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2F141F-8FD2-4F6D-B5B7-C0740B6BC1D2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0D3FBF-66D9-4334-8E79-9D23CD7BB9DE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17920" y="0"/>
            <a:ext cx="292608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17920" y="5088636"/>
            <a:ext cx="292608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858000" y="1371600"/>
            <a:ext cx="1645920" cy="1645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0" y="15544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RFM</a:t>
            </a:r>
          </a:p>
        </p:txBody>
      </p:sp>
      <p:sp>
        <p:nvSpPr>
          <p:cNvPr id="8" name="Oval 7"/>
          <p:cNvSpPr/>
          <p:nvPr/>
        </p:nvSpPr>
        <p:spPr>
          <a:xfrm>
            <a:off x="7406640" y="3200400"/>
            <a:ext cx="1005840" cy="10058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06640" y="3337560"/>
            <a:ext cx="1005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61A40"/>
                </a:solidFill>
              </a:rPr>
              <a:t>ETL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73152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</a:rPr>
              <a:t>PIPELINE DATA RFM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28016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Docker &amp; Airflow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774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AA8B8"/>
                </a:solidFill>
              </a:rPr>
              <a:t>Orchestration · ETL · Dockerisation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26080"/>
            <a:ext cx="2286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31089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A8B8"/>
                </a:solidFill>
              </a:rPr>
              <a:t>Simplon — Projet Data Engineering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520440"/>
            <a:ext cx="5029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 dirty="0">
                <a:solidFill>
                  <a:srgbClr val="8AA8B8"/>
                </a:solidFill>
              </a:rPr>
              <a:t>Groupe : </a:t>
            </a:r>
            <a:r>
              <a:rPr lang="fr-FR" sz="1000" dirty="0">
                <a:solidFill>
                  <a:srgbClr val="8AA8B8"/>
                </a:solidFill>
              </a:rPr>
              <a:t>Dahani · </a:t>
            </a:r>
            <a:r>
              <a:rPr sz="1000" b="0" i="0" dirty="0">
                <a:solidFill>
                  <a:srgbClr val="8AA8B8"/>
                </a:solidFill>
              </a:rPr>
              <a:t>Caroline · Ashley  · Sabine</a:t>
            </a:r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09EE0490-9302-C630-6413-4550B7707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/>
          </a:p>
        </p:txBody>
      </p:sp>
      <p:sp>
        <p:nvSpPr>
          <p:cNvPr id="18" name="Espace réservé du pied de page 17">
            <a:extLst>
              <a:ext uri="{FF2B5EF4-FFF2-40B4-BE49-F238E27FC236}">
                <a16:creationId xmlns:a16="http://schemas.microsoft.com/office/drawing/2014/main" id="{60A9A470-EBE4-1E51-6DE1-C6ECCE633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C89501CF-6B01-BCD9-8F8C-4CBE2CF62004}"/>
              </a:ext>
            </a:extLst>
          </p:cNvPr>
          <p:cNvSpPr txBox="1"/>
          <p:nvPr/>
        </p:nvSpPr>
        <p:spPr>
          <a:xfrm>
            <a:off x="5364360" y="4864095"/>
            <a:ext cx="975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900" b="0" i="0" dirty="0">
                <a:solidFill>
                  <a:srgbClr val="8AA8B8"/>
                </a:solidFill>
              </a:rPr>
              <a:t>10/04/2026</a:t>
            </a:r>
            <a:endParaRPr sz="900" b="0" i="0" dirty="0">
              <a:solidFill>
                <a:srgbClr val="8AA8B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1A40"/>
                </a:solidFill>
              </a:rPr>
              <a:t>CONTEXTE &amp; OBJECTIFS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0080"/>
            <a:ext cx="822960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3749039" cy="1554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8229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2C39A"/>
                </a:solidFill>
              </a:rPr>
              <a:t>Le projet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1430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8F4F8"/>
                </a:solidFill>
              </a:rPr>
              <a:t>Construire une pipeline de données simple et fonctionnelle à partir d'un dataset RFM (Online Retail II), orchestrée avec Airflow et dockerisée.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777240"/>
            <a:ext cx="4206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72000" y="777240"/>
            <a:ext cx="64008" cy="12344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36592" y="86868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1A40"/>
                </a:solidFill>
              </a:rPr>
              <a:t>🐳  Dockerisation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123444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5566"/>
                </a:solidFill>
              </a:rPr>
              <a:t>Faire tourner plusieurs services ensemble via docker-compose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2194560"/>
            <a:ext cx="4206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0" y="2194560"/>
            <a:ext cx="64008" cy="12344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36592" y="22860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1A40"/>
                </a:solidFill>
              </a:rPr>
              <a:t>🔄  Orchestration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265176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5566"/>
                </a:solidFill>
              </a:rPr>
              <a:t>Créer et exécuter un DAG Airflow en 3 étapes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0" y="3611880"/>
            <a:ext cx="420624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572000" y="3611880"/>
            <a:ext cx="64008" cy="123444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36592" y="37033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1A40"/>
                </a:solidFill>
              </a:rPr>
              <a:t>🗄️  ETL complet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36592" y="406908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5566"/>
                </a:solidFill>
              </a:rPr>
              <a:t>Ingestion, transformation RFM, chargement dans PostgreSQL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796028"/>
            <a:ext cx="7315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8AA8B8"/>
                </a:solidFill>
              </a:rPr>
              <a:t>Dataset : UCI Online Retail II</a:t>
            </a:r>
          </a:p>
        </p:txBody>
      </p:sp>
      <p:sp>
        <p:nvSpPr>
          <p:cNvPr id="24" name="Espace réservé du numéro de diapositive 23">
            <a:extLst>
              <a:ext uri="{FF2B5EF4-FFF2-40B4-BE49-F238E27FC236}">
                <a16:creationId xmlns:a16="http://schemas.microsoft.com/office/drawing/2014/main" id="{81B62F6D-5FD7-B2AB-5027-E24E2648B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1A40"/>
                </a:solidFill>
              </a:rPr>
              <a:t>ARCHITECTURE GLOBALE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0080"/>
            <a:ext cx="822960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8321040" cy="3566160"/>
          </a:xfrm>
          <a:prstGeom prst="rect">
            <a:avLst/>
          </a:prstGeom>
          <a:solidFill>
            <a:srgbClr val="E0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777240"/>
            <a:ext cx="8321040" cy="3566160"/>
          </a:xfrm>
          <a:prstGeom prst="rect">
            <a:avLst/>
          </a:prstGeom>
          <a:solidFill>
            <a:srgbClr val="E0EFF5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8046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028090"/>
                </a:solidFill>
              </a:rPr>
              <a:t>docker-compose.yml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" y="1188720"/>
            <a:ext cx="1920240" cy="20116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325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🐘  PostgreSQL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3736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8"/>
                </a:solidFill>
              </a:rPr>
              <a:t>Base de données
Table brute + RFM
Port 5432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0" y="2121408"/>
            <a:ext cx="201168" cy="64008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743200" y="1188720"/>
            <a:ext cx="1920240" cy="20116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34640" y="1325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🌀  Airflow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34640" y="173736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8"/>
                </a:solidFill>
              </a:rPr>
              <a:t>Orchestrateur
Webserver + Scheduler
Port 8080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9159" y="2121408"/>
            <a:ext cx="201168" cy="64008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892040" y="1188720"/>
            <a:ext cx="1920240" cy="20116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983480" y="1325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🐍  ETL Script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83480" y="173736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8"/>
                </a:solidFill>
              </a:rPr>
              <a:t>Python
Ingestion · Transform
Chargement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0" y="2121408"/>
            <a:ext cx="201168" cy="64008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040880" y="1188720"/>
            <a:ext cx="1920240" cy="20116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32320" y="13258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📊  Streamlit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1737360"/>
            <a:ext cx="1737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8F4F8"/>
                </a:solidFill>
              </a:rPr>
              <a:t>Visualisation
Dashboard RFM
(démo live ✨)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34290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65A82"/>
                </a:solidFill>
              </a:rPr>
              <a:t>DAG Airflow  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3337560"/>
            <a:ext cx="2011680" cy="41148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331720" y="337413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ingest_bronze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80" y="3474720"/>
            <a:ext cx="274320" cy="54864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572000" y="3337560"/>
            <a:ext cx="2011680" cy="4114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17720" y="337413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transform_silver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0" y="3474720"/>
            <a:ext cx="274320" cy="54864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858000" y="3337560"/>
            <a:ext cx="2011680" cy="41148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903720" y="3374136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61A40"/>
                </a:solidFill>
              </a:rPr>
              <a:t>build_gold_star_schema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33832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ingest_bronze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33832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</a:rPr>
              <a:t>transform_silver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33832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061A40"/>
                </a:solidFill>
              </a:rPr>
              <a:t>build_gold_star_schema</a:t>
            </a:r>
          </a:p>
        </p:txBody>
      </p:sp>
      <p:sp>
        <p:nvSpPr>
          <p:cNvPr id="38" name="Espace réservé du numéro de diapositive 37">
            <a:extLst>
              <a:ext uri="{FF2B5EF4-FFF2-40B4-BE49-F238E27FC236}">
                <a16:creationId xmlns:a16="http://schemas.microsoft.com/office/drawing/2014/main" id="{08BC4828-0A25-2736-1D58-2FE8F08DE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1A40"/>
                </a:solidFill>
              </a:rPr>
              <a:t>ETL : INGESTION &amp; TRANSFORMATION RFM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0080"/>
            <a:ext cx="822960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777240"/>
            <a:ext cx="393192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D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777240"/>
            <a:ext cx="64008" cy="18288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0080" y="868680"/>
            <a:ext cx="329184" cy="329184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868680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1A40"/>
                </a:solidFill>
              </a:rPr>
              <a:t>Ingestion — Bronze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1234440"/>
            <a:ext cx="36576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 dirty="0" err="1">
                <a:solidFill>
                  <a:srgbClr val="335566"/>
                </a:solidFill>
              </a:rPr>
              <a:t>Chargement</a:t>
            </a:r>
            <a:r>
              <a:rPr sz="950" b="0" i="0" dirty="0">
                <a:solidFill>
                  <a:srgbClr val="335566"/>
                </a:solidFill>
              </a:rPr>
              <a:t> du dataset CSV (Online Retail II)
Insertion dans PostgreSQL → table brute
Outil : pandas + </a:t>
            </a:r>
            <a:r>
              <a:rPr sz="950" b="0" i="0" dirty="0" err="1">
                <a:solidFill>
                  <a:srgbClr val="335566"/>
                </a:solidFill>
              </a:rPr>
              <a:t>SQLAlchemy</a:t>
            </a:r>
            <a:r>
              <a:rPr sz="950" b="0" i="0" dirty="0">
                <a:solidFill>
                  <a:srgbClr val="335566"/>
                </a:solidFill>
              </a:rPr>
              <a:t> / psycopg2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743200"/>
            <a:ext cx="3931920" cy="2011680"/>
          </a:xfrm>
          <a:prstGeom prst="rect">
            <a:avLst/>
          </a:prstGeom>
          <a:solidFill>
            <a:srgbClr val="FFFFFF"/>
          </a:solidFill>
          <a:ln w="9525">
            <a:solidFill>
              <a:srgbClr val="D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2743200"/>
            <a:ext cx="64008" cy="201168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0080" y="2834640"/>
            <a:ext cx="329184" cy="329184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834640"/>
            <a:ext cx="3291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1A40"/>
                </a:solidFill>
              </a:rPr>
              <a:t>Transformation — Silver &amp; Gold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3200400"/>
            <a:ext cx="3657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5566"/>
                </a:solidFill>
              </a:rPr>
              <a:t>Nettoyage : suppression des nulls, doublons,
annulations (InvoiceNo commençant par 'C')
Calcul RFM par CustomerID :
  • Recency : jours depuis dernier achat
  • Frequency : nb de commandes
  • Monetary : montant total dépensé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777240"/>
            <a:ext cx="4160520" cy="3977639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54880" y="8686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2C39A"/>
                </a:solidFill>
              </a:rPr>
              <a:t>Métriques RFM</a:t>
            </a:r>
          </a:p>
        </p:txBody>
      </p:sp>
      <p:sp>
        <p:nvSpPr>
          <p:cNvPr id="19" name="Oval 18"/>
          <p:cNvSpPr/>
          <p:nvPr/>
        </p:nvSpPr>
        <p:spPr>
          <a:xfrm>
            <a:off x="4800600" y="1325880"/>
            <a:ext cx="640080" cy="64008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00600" y="14173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203911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C39A"/>
                </a:solidFill>
              </a:rPr>
              <a:t>Recency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60" y="233172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A8B8"/>
                </a:solidFill>
              </a:rPr>
              <a:t>Quand a-t-il
acheté pour la
dernière fois ?</a:t>
            </a:r>
          </a:p>
        </p:txBody>
      </p:sp>
      <p:sp>
        <p:nvSpPr>
          <p:cNvPr id="23" name="Oval 22"/>
          <p:cNvSpPr/>
          <p:nvPr/>
        </p:nvSpPr>
        <p:spPr>
          <a:xfrm>
            <a:off x="6126480" y="1325880"/>
            <a:ext cx="640080" cy="64008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126480" y="14173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</a:rPr>
              <a:t>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203911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C39A"/>
                </a:solidFill>
              </a:rPr>
              <a:t>Frequency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233172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A8B8"/>
                </a:solidFill>
              </a:rPr>
              <a:t>Combien de fois
a-t-il acheté ?</a:t>
            </a:r>
          </a:p>
        </p:txBody>
      </p:sp>
      <p:sp>
        <p:nvSpPr>
          <p:cNvPr id="27" name="Oval 26"/>
          <p:cNvSpPr/>
          <p:nvPr/>
        </p:nvSpPr>
        <p:spPr>
          <a:xfrm>
            <a:off x="7452360" y="1325880"/>
            <a:ext cx="640080" cy="64008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52360" y="14173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61A40"/>
                </a:solidFill>
              </a:rPr>
              <a:t>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203911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2C39A"/>
                </a:solidFill>
              </a:rPr>
              <a:t>Monetary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20" y="233172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8AA8B8"/>
                </a:solidFill>
              </a:rPr>
              <a:t>Combien a-t-il
dépensé au
total 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54880" y="365760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8AA8B8"/>
                </a:solidFill>
              </a:rPr>
              <a:t>→ Segmentation client par score</a:t>
            </a:r>
          </a:p>
        </p:txBody>
      </p:sp>
      <p:sp>
        <p:nvSpPr>
          <p:cNvPr id="33" name="Espace réservé du numéro de diapositive 32">
            <a:extLst>
              <a:ext uri="{FF2B5EF4-FFF2-40B4-BE49-F238E27FC236}">
                <a16:creationId xmlns:a16="http://schemas.microsoft.com/office/drawing/2014/main" id="{1C1883E2-F2F3-13FC-9AC4-B317C166C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1A40"/>
                </a:solidFill>
              </a:rPr>
              <a:t>ORCHESTRATION — DAG AIRFLOW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0080"/>
            <a:ext cx="822960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749808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335566"/>
                </a:solidFill>
              </a:rPr>
              <a:t>Un DAG (Directed Acyclic Graph) définit l'ordre et les dépendances entre les tâches.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2468880" cy="22860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640080" y="1371600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65A82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ingest_bronze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Charge le CSV
dans PostgreSQL
(table brute)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240280"/>
            <a:ext cx="365760" cy="9144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35808" y="21031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1A40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83280" y="1280160"/>
            <a:ext cx="2468880" cy="228600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474720" y="1371600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28090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1828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transform_silver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2860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</a:rPr>
              <a:t>Nettoie les données
et calcule les
métriques RFM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52160" y="2240280"/>
            <a:ext cx="365760" cy="9144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70448" y="21031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61A40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280160"/>
            <a:ext cx="2468880" cy="228600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09359" y="1371600"/>
            <a:ext cx="384048" cy="38404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02C39A"/>
                </a:solidFill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1828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1A40"/>
                </a:solidFill>
              </a:rPr>
              <a:t>build_gold_star_schema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59" y="2286000"/>
            <a:ext cx="2286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61A40"/>
                </a:solidFill>
              </a:rPr>
              <a:t>Charge le résultat
RFM dans la table
finaliste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749039"/>
            <a:ext cx="8229600" cy="100584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5800" y="37947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2C39A"/>
                </a:solidFill>
              </a:rPr>
              <a:t>⚙️  Points clés Airflow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133087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8"/>
                </a:solidFill>
              </a:rPr>
              <a:t>• Schedule : None (déclenchement manuel)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4133087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8"/>
                </a:solidFill>
              </a:rPr>
              <a:t>• DockerOperator pour chaque tâche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4133087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8F4F8"/>
                </a:solidFill>
              </a:rPr>
              <a:t>• Dépendances : ingest &gt;&gt; transform &gt;&gt; load</a:t>
            </a:r>
          </a:p>
        </p:txBody>
      </p:sp>
      <p:sp>
        <p:nvSpPr>
          <p:cNvPr id="30" name="Espace réservé du numéro de diapositive 29">
            <a:extLst>
              <a:ext uri="{FF2B5EF4-FFF2-40B4-BE49-F238E27FC236}">
                <a16:creationId xmlns:a16="http://schemas.microsoft.com/office/drawing/2014/main" id="{82CAD16A-D8EF-0C51-472D-8BDC25C93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1A40"/>
                </a:solidFill>
              </a:rPr>
              <a:t>DOCKERISATION — docker-compose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0080"/>
            <a:ext cx="822960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74980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335566"/>
                </a:solidFill>
              </a:rPr>
              <a:t>Tout l'environnement se lance avec une seule commande : docker-compose up -d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2560320" cy="21031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13716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🐳  PostgreSQL :16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82880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Stockage des données
Port 5432
Healthcheck intégré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1234440"/>
            <a:ext cx="2560320" cy="21031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93008" y="13716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🐳  Airflow 2.9.2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3008" y="182880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Webserver + Scheduler
Port 8080
Init DB au démarrage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234440"/>
            <a:ext cx="2560320" cy="2103120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27648" y="1371600"/>
            <a:ext cx="2331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1A40"/>
                </a:solidFill>
              </a:rPr>
              <a:t>🐳  ETL Script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7648" y="1828800"/>
            <a:ext cx="2331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61A40"/>
                </a:solidFill>
              </a:rPr>
              <a:t>Image Python custom
Montage volume /data
Exécuté par le DAG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520440"/>
            <a:ext cx="8275320" cy="1280160"/>
          </a:xfrm>
          <a:prstGeom prst="rect">
            <a:avLst/>
          </a:prstGeom>
          <a:solidFill>
            <a:srgbClr val="D0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8640" y="3520440"/>
            <a:ext cx="8275320" cy="1280160"/>
          </a:xfrm>
          <a:prstGeom prst="rect">
            <a:avLst/>
          </a:prstGeom>
          <a:solidFill>
            <a:srgbClr val="D0ECF5"/>
          </a:solidFill>
          <a:ln w="1270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58444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5A82"/>
                </a:solidFill>
              </a:rPr>
              <a:t>💡  Ce qu'on a appris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9319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5A82"/>
                </a:solidFill>
              </a:rPr>
              <a:t>• Les services communiquent via un réseau Docker interne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931920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5A82"/>
                </a:solidFill>
              </a:rPr>
              <a:t>• depends_on garantit l'ordre de démarrage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27939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5A82"/>
                </a:solidFill>
              </a:rPr>
              <a:t>• Les volumes permettent de partager les fichiers avec les conteneurs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427939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65A82"/>
                </a:solidFill>
              </a:rPr>
              <a:t>• .env centralise les variables sensibles (mdp, ports…)</a:t>
            </a:r>
          </a:p>
        </p:txBody>
      </p:sp>
      <p:sp>
        <p:nvSpPr>
          <p:cNvPr id="25" name="Espace réservé du numéro de diapositive 24">
            <a:extLst>
              <a:ext uri="{FF2B5EF4-FFF2-40B4-BE49-F238E27FC236}">
                <a16:creationId xmlns:a16="http://schemas.microsoft.com/office/drawing/2014/main" id="{F2F6FB55-119F-F24C-C73E-FE24BCA19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64592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1A40"/>
                </a:solidFill>
              </a:rPr>
              <a:t>DÉFIS RENCONTRÉS &amp; SOLUTIONS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40080"/>
            <a:ext cx="8229600" cy="36576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822960"/>
            <a:ext cx="41148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822960"/>
            <a:ext cx="64008" cy="1691640"/>
          </a:xfrm>
          <a:prstGeom prst="rect">
            <a:avLst/>
          </a:prstGeom>
          <a:solidFill>
            <a:srgbClr val="E8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" y="9144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03010"/>
                </a:solidFill>
              </a:rPr>
              <a:t>⚠️  Problème : Port 8080 déjà utilisé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" y="132588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5566"/>
                </a:solidFill>
              </a:rPr>
              <a:t>✅  Un conteneur Adminer d'un TP précédent occupait le port → arrêt du TP via docker-compose down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00600" y="822960"/>
            <a:ext cx="41148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800600" y="822960"/>
            <a:ext cx="64008" cy="1691640"/>
          </a:xfrm>
          <a:prstGeom prst="rect">
            <a:avLst/>
          </a:prstGeom>
          <a:solidFill>
            <a:srgbClr val="E8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65192" y="91440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03010"/>
                </a:solidFill>
              </a:rPr>
              <a:t>⚠️  Problème : Database 'airflow' inexistante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5192" y="132588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5566"/>
                </a:solidFill>
              </a:rPr>
              <a:t>✅  Le service airflow-init manquait → initialisation manuelle via docker exec airflow db init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743200"/>
            <a:ext cx="41148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2743200"/>
            <a:ext cx="64008" cy="1691640"/>
          </a:xfrm>
          <a:prstGeom prst="rect">
            <a:avLst/>
          </a:prstGeom>
          <a:solidFill>
            <a:srgbClr val="E8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7512" y="28346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03010"/>
                </a:solidFill>
              </a:rPr>
              <a:t>⚠️  Problème : Réseau Docker introuvable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" y="324612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5566"/>
                </a:solidFill>
              </a:rPr>
              <a:t>✅  Le DAG cherchait rfm-pipeline_default → corrigé en brief5-pipeline-data-rfm_default dans le DockerOperator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800600" y="2743200"/>
            <a:ext cx="411480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D0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800600" y="2743200"/>
            <a:ext cx="64008" cy="1691640"/>
          </a:xfrm>
          <a:prstGeom prst="rect">
            <a:avLst/>
          </a:prstGeom>
          <a:solidFill>
            <a:srgbClr val="E86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965192" y="283464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03010"/>
                </a:solidFill>
              </a:rPr>
              <a:t>⚠️  Problème : Chemin Windows dans .env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65192" y="324612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335566"/>
                </a:solidFill>
              </a:rPr>
              <a:t>✅  Les backslashes \ causaient des erreurs → remplacement par des slashes /</a:t>
            </a:r>
          </a:p>
        </p:txBody>
      </p:sp>
      <p:sp>
        <p:nvSpPr>
          <p:cNvPr id="24" name="Espace réservé du numéro de diapositive 23">
            <a:extLst>
              <a:ext uri="{FF2B5EF4-FFF2-40B4-BE49-F238E27FC236}">
                <a16:creationId xmlns:a16="http://schemas.microsoft.com/office/drawing/2014/main" id="{77859D5D-187E-16C6-D952-2AD9EB57A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7772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C39A"/>
                </a:solidFill>
              </a:rPr>
              <a:t>CE QUE NOUS AVONS RÉALISÉ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8046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 dirty="0">
                <a:solidFill>
                  <a:srgbClr val="FFFFFF"/>
                </a:solidFill>
              </a:rPr>
              <a:t>Un pipeline de données </a:t>
            </a:r>
            <a:r>
              <a:rPr sz="2600" b="1" i="0" dirty="0" err="1">
                <a:solidFill>
                  <a:srgbClr val="FFFFFF"/>
                </a:solidFill>
              </a:rPr>
              <a:t>compl</a:t>
            </a:r>
            <a:r>
              <a:rPr lang="fr-FR" sz="2600" b="1" i="0" dirty="0">
                <a:solidFill>
                  <a:srgbClr val="FFFFFF"/>
                </a:solidFill>
              </a:rPr>
              <a:t>et</a:t>
            </a:r>
            <a:r>
              <a:rPr sz="2600" b="1" i="0" dirty="0">
                <a:solidFill>
                  <a:srgbClr val="FFFFFF"/>
                </a:solidFill>
              </a:rPr>
              <a:t>,
orchestré et dockerisé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783080"/>
            <a:ext cx="27432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143000" y="1965960"/>
            <a:ext cx="822960" cy="8229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C39A"/>
                </a:solidFill>
              </a:rPr>
              <a:t>Docker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2783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A8B8"/>
                </a:solidFill>
              </a:rPr>
              <a:t>Environnement
reproductible</a:t>
            </a:r>
          </a:p>
        </p:txBody>
      </p:sp>
      <p:sp>
        <p:nvSpPr>
          <p:cNvPr id="12" name="Oval 11"/>
          <p:cNvSpPr/>
          <p:nvPr/>
        </p:nvSpPr>
        <p:spPr>
          <a:xfrm>
            <a:off x="3154680" y="1965960"/>
            <a:ext cx="822960" cy="8229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54680" y="205740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8803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C39A"/>
                </a:solidFill>
              </a:rPr>
              <a:t>Airflow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22783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A8B8"/>
                </a:solidFill>
              </a:rPr>
              <a:t>Orchestration
automatisée</a:t>
            </a:r>
          </a:p>
        </p:txBody>
      </p:sp>
      <p:sp>
        <p:nvSpPr>
          <p:cNvPr id="16" name="Oval 15"/>
          <p:cNvSpPr/>
          <p:nvPr/>
        </p:nvSpPr>
        <p:spPr>
          <a:xfrm>
            <a:off x="5166360" y="1965960"/>
            <a:ext cx="822960" cy="82296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166360" y="205740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🗄️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0" y="28803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C39A"/>
                </a:solidFill>
              </a:rPr>
              <a:t>PostgreSQL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22783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A8B8"/>
                </a:solidFill>
              </a:rPr>
              <a:t>Données
stockées &amp; prêtes</a:t>
            </a:r>
          </a:p>
        </p:txBody>
      </p:sp>
      <p:sp>
        <p:nvSpPr>
          <p:cNvPr id="20" name="Oval 19"/>
          <p:cNvSpPr/>
          <p:nvPr/>
        </p:nvSpPr>
        <p:spPr>
          <a:xfrm>
            <a:off x="7178040" y="1965960"/>
            <a:ext cx="822960" cy="82296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178040" y="205740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FFFFFF"/>
                </a:solidFill>
              </a:rP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88036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2C39A"/>
                </a:solidFill>
              </a:rPr>
              <a:t>RFM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227832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A8B8"/>
                </a:solidFill>
              </a:rPr>
              <a:t>Segmentation
client calculée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3205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AA8B8"/>
                </a:solidFill>
              </a:rPr>
              <a:t>« Learning by doing — chaque erreur était une leçon »</a:t>
            </a:r>
          </a:p>
        </p:txBody>
      </p:sp>
      <p:sp>
        <p:nvSpPr>
          <p:cNvPr id="26" name="Espace réservé du numéro de diapositive 25">
            <a:extLst>
              <a:ext uri="{FF2B5EF4-FFF2-40B4-BE49-F238E27FC236}">
                <a16:creationId xmlns:a16="http://schemas.microsoft.com/office/drawing/2014/main" id="{8B756469-FED9-72D8-626C-2E277396D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11498-D63E-5347-37F7-A521450F5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6B2CB0-AD77-E46F-9E3A-C5552A9CEFC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1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B90CFF4-286D-6451-4894-8E0FFB013B60}"/>
              </a:ext>
            </a:extLst>
          </p:cNvPr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445A21-A251-AA92-59FB-D8652AE7360D}"/>
              </a:ext>
            </a:extLst>
          </p:cNvPr>
          <p:cNvSpPr/>
          <p:nvPr/>
        </p:nvSpPr>
        <p:spPr>
          <a:xfrm>
            <a:off x="6217920" y="0"/>
            <a:ext cx="292608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DCDDF0-2F4E-1B5E-D205-A142F78BBF17}"/>
              </a:ext>
            </a:extLst>
          </p:cNvPr>
          <p:cNvSpPr/>
          <p:nvPr/>
        </p:nvSpPr>
        <p:spPr>
          <a:xfrm>
            <a:off x="6217920" y="5088636"/>
            <a:ext cx="2926080" cy="54864"/>
          </a:xfrm>
          <a:prstGeom prst="rect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05D192D-0F77-D05F-3F72-26C63CC62E99}"/>
              </a:ext>
            </a:extLst>
          </p:cNvPr>
          <p:cNvSpPr/>
          <p:nvPr/>
        </p:nvSpPr>
        <p:spPr>
          <a:xfrm>
            <a:off x="6858000" y="1371600"/>
            <a:ext cx="1645920" cy="1645920"/>
          </a:xfrm>
          <a:prstGeom prst="ellipse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8B1DA01-5BCB-BB9F-82F2-65921B013DA4}"/>
              </a:ext>
            </a:extLst>
          </p:cNvPr>
          <p:cNvSpPr/>
          <p:nvPr/>
        </p:nvSpPr>
        <p:spPr>
          <a:xfrm>
            <a:off x="7406640" y="3200400"/>
            <a:ext cx="1005840" cy="10058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3D6818-D001-06C8-A745-56712B833F21}"/>
              </a:ext>
            </a:extLst>
          </p:cNvPr>
          <p:cNvSpPr txBox="1"/>
          <p:nvPr/>
        </p:nvSpPr>
        <p:spPr>
          <a:xfrm>
            <a:off x="457200" y="1280160"/>
            <a:ext cx="54864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3400" b="1" dirty="0">
                <a:solidFill>
                  <a:srgbClr val="FFFFFF"/>
                </a:solidFill>
              </a:rPr>
              <a:t>Merci de votre attention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86EB50-3D64-56DE-2063-D93407094656}"/>
              </a:ext>
            </a:extLst>
          </p:cNvPr>
          <p:cNvSpPr/>
          <p:nvPr/>
        </p:nvSpPr>
        <p:spPr>
          <a:xfrm>
            <a:off x="1981200" y="2446158"/>
            <a:ext cx="2286000" cy="45720"/>
          </a:xfrm>
          <a:prstGeom prst="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F541AA36-DFED-99D6-AE8F-6CDB808A1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/>
          </a:p>
        </p:txBody>
      </p:sp>
      <p:sp>
        <p:nvSpPr>
          <p:cNvPr id="18" name="Espace réservé du pied de page 17">
            <a:extLst>
              <a:ext uri="{FF2B5EF4-FFF2-40B4-BE49-F238E27FC236}">
                <a16:creationId xmlns:a16="http://schemas.microsoft.com/office/drawing/2014/main" id="{9F2F0937-4DCF-EB82-EBFE-E2BD37246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5B7DFF58-6BE1-77D5-F419-3F9B89A747BF}"/>
              </a:ext>
            </a:extLst>
          </p:cNvPr>
          <p:cNvSpPr txBox="1"/>
          <p:nvPr/>
        </p:nvSpPr>
        <p:spPr>
          <a:xfrm>
            <a:off x="5364360" y="4864095"/>
            <a:ext cx="9756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900" b="0" i="0" dirty="0">
                <a:solidFill>
                  <a:srgbClr val="8AA8B8"/>
                </a:solidFill>
              </a:rPr>
              <a:t>10/04/2026</a:t>
            </a:r>
            <a:endParaRPr sz="900" b="0" i="0" dirty="0">
              <a:solidFill>
                <a:srgbClr val="8AA8B8"/>
              </a:solidFill>
            </a:endParaRPr>
          </a:p>
        </p:txBody>
      </p:sp>
      <p:pic>
        <p:nvPicPr>
          <p:cNvPr id="1028" name="Picture 4" descr="logo d'icône de question, adapté au site Web, à l'application, etc. 6307426  Art vectoriel chez Vecteezy">
            <a:extLst>
              <a:ext uri="{FF2B5EF4-FFF2-40B4-BE49-F238E27FC236}">
                <a16:creationId xmlns:a16="http://schemas.microsoft.com/office/drawing/2014/main" id="{F18197CA-1957-25EC-759A-5128012DC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9286" y1="38878" x2="59286" y2="38878"/>
                        <a14:foregroundMark x1="62347" y1="43367" x2="62347" y2="433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5805" y="1089405"/>
            <a:ext cx="2210310" cy="2210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4" descr="logo d'icône de question, adapté au site Web, à l'application, etc. 6307426  Art vectoriel chez Vecteezy">
            <a:extLst>
              <a:ext uri="{FF2B5EF4-FFF2-40B4-BE49-F238E27FC236}">
                <a16:creationId xmlns:a16="http://schemas.microsoft.com/office/drawing/2014/main" id="{E951B97F-AAED-4D2F-43B0-6161E2E78F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9286" y1="38878" x2="59286" y2="38878"/>
                        <a14:foregroundMark x1="62347" y1="43367" x2="62347" y2="433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2251" y="3106011"/>
            <a:ext cx="1194618" cy="1194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893998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657</Words>
  <Application>Microsoft Office PowerPoint</Application>
  <PresentationFormat>Affichage à l'écran (16:9)</PresentationFormat>
  <Paragraphs>122</Paragraphs>
  <Slides>9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Sabine ANOKO</cp:lastModifiedBy>
  <cp:revision>3</cp:revision>
  <dcterms:created xsi:type="dcterms:W3CDTF">2013-01-27T09:14:16Z</dcterms:created>
  <dcterms:modified xsi:type="dcterms:W3CDTF">2026-04-09T07:02:50Z</dcterms:modified>
  <cp:category/>
</cp:coreProperties>
</file>